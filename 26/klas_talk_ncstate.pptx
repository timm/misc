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Labels vs Optimality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Max Optimality</c:v>
                </c:pt>
              </c:strCache>
            </c:strRef>
          </c:tx>
          <c:spPr>
            <a:solidFill>
              <a:srgbClr val="99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0A-994B-A422-0B1E756D13BB}"/>
              </c:ext>
            </c:extLst>
          </c:dPt>
          <c:dPt>
            <c:idx val="1"/>
            <c:invertIfNegative val="0"/>
            <c:bubble3D val="0"/>
            <c:spPr>
              <a:solidFill>
                <a:srgbClr val="A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0A-994B-A422-0B1E756D13BB}"/>
              </c:ext>
            </c:extLst>
          </c:dPt>
          <c:dPt>
            <c:idx val="2"/>
            <c:invertIfNegative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0A-994B-A422-0B1E756D13BB}"/>
              </c:ext>
            </c:extLst>
          </c:dPt>
          <c:dPt>
            <c:idx val="3"/>
            <c:invertIfNegative val="0"/>
            <c:bubble3D val="0"/>
            <c:spPr>
              <a:solidFill>
                <a:srgbClr val="DD22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0A-994B-A422-0B1E756D13BB}"/>
              </c:ext>
            </c:extLst>
          </c:dPt>
          <c:dPt>
            <c:idx val="4"/>
            <c:invertIfNegative val="0"/>
            <c:bubble3D val="0"/>
            <c:spPr>
              <a:solidFill>
                <a:srgbClr val="EE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00A-994B-A422-0B1E756D13BB}"/>
              </c:ext>
            </c:extLst>
          </c:dPt>
          <c:dPt>
            <c:idx val="5"/>
            <c:invertIfNegative val="0"/>
            <c:bubble3D val="0"/>
            <c:spPr>
              <a:solidFill>
                <a:srgbClr val="FF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00A-994B-A422-0B1E756D13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80</c:v>
                </c:pt>
                <c:pt idx="2">
                  <c:v>90</c:v>
                </c:pt>
                <c:pt idx="3">
                  <c:v>91</c:v>
                </c:pt>
                <c:pt idx="4">
                  <c:v>92</c:v>
                </c:pt>
                <c:pt idx="5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00A-994B-A422-0B1E756D13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21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23360" y="0"/>
            <a:ext cx="13716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+ KLAS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Case for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Knowledge-Level Agent Systems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Software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Menzies  ·  NC State  ·  timm@ieee.org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188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"Obtaining state-of-the-art results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 achieved with smarter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questioning, not planetary-scale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CACM, Sept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talk  ·  CS undergrads + grad students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 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acts · 45 minutes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54864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Bigger-is-Better Myth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59105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LLMs · vibe 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54864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Spaces &amp; Search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3408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Tic-Tac-Toe to SE · funneling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79776"/>
            <a:ext cx="54864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KLAS: Agents + Tools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trap · 1989 → 2026 · tools beat agents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54864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EZR: Active Learning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38404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at every layer · 32 samples → 90%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279392"/>
            <a:ext cx="54864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Join This Research?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5840" y="45902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code · open problems · the invitation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37360"/>
            <a:ext cx="2286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Bigger-is-Better Myth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C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LLMs aren't always the answer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LLM Problem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literature</a:t>
            </a:r>
            <a:endParaRPr lang="en-US" sz="1500" dirty="0"/>
          </a:p>
        </p:txBody>
      </p:sp>
      <p:pic>
        <p:nvPicPr>
          <p:cNvPr id="5" name="Image 0" descr="/mnt/user-data/uploads/177173529861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3035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188720"/>
            <a:ext cx="306324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52160" y="11887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903720" y="128016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answers contain incorrect info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2148840"/>
            <a:ext cx="306324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0" y="214884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903720" y="224028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is faulty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3108960"/>
            <a:ext cx="306324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52160" y="310896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03720" y="320040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devs accept AI suggestions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06440" y="4069080"/>
            <a:ext cx="3063240" cy="804672"/>
          </a:xfrm>
          <a:prstGeom prst="rect">
            <a:avLst/>
          </a:prstGeom>
          <a:solidFill>
            <a:srgbClr val="FFFFFF"/>
          </a:solidFill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0" y="406908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100x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03720" y="416052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costs projected to rise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 Breaks 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disappears — testing debt explodes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SE</a:t>
            </a:r>
            <a:endParaRPr lang="en-US" sz="1700" dirty="0"/>
          </a:p>
        </p:txBody>
      </p:sp>
      <p:pic>
        <p:nvPicPr>
          <p:cNvPr id="6" name="Image 0" descr="/mnt/user-data/uploads/177173532912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84048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143000"/>
            <a:ext cx="0" cy="3611880"/>
          </a:xfrm>
          <a:prstGeom prst="line">
            <a:avLst/>
          </a:prstGeom>
          <a:noFill/>
          <a:ln w="19050">
            <a:solidFill>
              <a:srgbClr val="E0E0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00600" y="1188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</a:t>
            </a:r>
            <a:endParaRPr lang="en-US" sz="1700" dirty="0"/>
          </a:p>
        </p:txBody>
      </p:sp>
      <p:pic>
        <p:nvPicPr>
          <p:cNvPr id="9" name="Image 1" descr="/mnt/user-data/uploads/177173534892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72768"/>
            <a:ext cx="4069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Herding vs Verification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shift in what testing means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69080" cy="2743200"/>
          </a:xfrm>
          <a:prstGeom prst="rect">
            <a:avLst/>
          </a:prstGeom>
          <a:solidFill>
            <a:srgbClr val="F0F0F0"/>
          </a:solidFill>
          <a:ln w="1905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69080" cy="5029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 (old goal)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∀x ∈ X : Valid(S(x))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 across ALL states.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exponential (2^|A|)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modern AI + concurrent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3931920" cy="2743200"/>
          </a:xfrm>
          <a:prstGeom prst="rect">
            <a:avLst/>
          </a:prstGeom>
          <a:solidFill>
            <a:srgbClr val="FFF5F5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39319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HERDING  (new goal)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Utility(S(x')) &gt; 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x' that reaches "Heaven" — a satisficing threshold τ.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≈32 samples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black-box system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"Heaven" = zero defects, low latency, minimal cost — whatever your objectives are.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37360"/>
            <a:ext cx="2286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Spaces &amp; Search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C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Tic-Tac-Toe to Software Engineering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AI Problem is a Search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spaces: visible in Tic-Tac-Toe, infinite in SE</a:t>
            </a:r>
            <a:endParaRPr lang="en-US" sz="1500" dirty="0"/>
          </a:p>
        </p:txBody>
      </p:sp>
      <p:pic>
        <p:nvPicPr>
          <p:cNvPr id="5" name="Image 0" descr="/mnt/user-data/uploads/177173517226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51206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188720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0" y="1188720"/>
            <a:ext cx="109728" cy="10972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70448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Tic-Tac-Toe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70448" y="159105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~255,168 possible games.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see the whole tree.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0" y="2450592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0" y="2450592"/>
            <a:ext cx="109728" cy="10972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70448" y="2542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Decisions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70448" y="2852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spaces: 10^40 options.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is effectively infinite.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0" y="3712464"/>
            <a:ext cx="32004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0" y="3712464"/>
            <a:ext cx="109728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70448" y="3803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70448" y="4114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paths without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— how?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Funneling Effect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complexity, software converges to few outcomes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56692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State Space  (10^40 combinations)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920240"/>
            <a:ext cx="4754880" cy="59436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paths lead nowhere useful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2651760"/>
            <a:ext cx="3749040" cy="594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clusters into few patterns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3383280"/>
            <a:ext cx="2743200" cy="59436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key decisions matter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4114800"/>
            <a:ext cx="192024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4114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32 samples → 90% optimal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2286000"/>
            <a:ext cx="2286000" cy="1188720"/>
          </a:xfrm>
          <a:prstGeom prst="rect">
            <a:avLst/>
          </a:prstGeom>
          <a:solidFill>
            <a:srgbClr val="FFF5F5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SVM+TF-IDF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beat Big 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100× faster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accuracy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37360"/>
            <a:ext cx="2286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KLAS: Agents + Tools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C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Knowledge-Level Agent Systems — what's old is new again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Modeling Trap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and Probabilistic Programming share a fatal assumption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47548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Set Programming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system as logical rules.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— but requires full logical encoding of a million-line system.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02336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023360" cy="47548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Probabilistic Programming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(Stan, Pyro)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priors and relationships.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— but requires a probabilistic model T of the whole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474720"/>
            <a:ext cx="8503920" cy="1325880"/>
          </a:xfrm>
          <a:prstGeom prst="rect">
            <a:avLst/>
          </a:prstGeom>
          <a:solidFill>
            <a:srgbClr val="FFF5F5"/>
          </a:solidFill>
          <a:ln w="317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The Common Fatal Assumption: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is cheaper to build than the software itself.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 modern SE, the system IS the model. Recreating a logical shadow of it is a boil-the-ocean strategy."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Old is New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1989 expert system dream — now finally working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69080" cy="3657600"/>
          </a:xfrm>
          <a:prstGeom prst="rect">
            <a:avLst/>
          </a:prstGeom>
          <a:solidFill>
            <a:srgbClr val="F0F0F0"/>
          </a:solidFill>
          <a:ln w="1905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69080" cy="5029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1989  —  Newell &amp; Yost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"Subgoals are generated whenever problem solving cannot proceed until another problem space has performed some subtask."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Symbolic logic, hand-coded operators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Brittle, hard to scale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7408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983480" y="1188720"/>
            <a:ext cx="3886200" cy="3657600"/>
          </a:xfrm>
          <a:prstGeom prst="rect">
            <a:avLst/>
          </a:prstGeom>
          <a:solidFill>
            <a:srgbClr val="FFF5F5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1188720"/>
            <a:ext cx="388620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188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 —  DeepMind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agents need to decompose problems into manageable sub-components and safely delegate their completion across other AI agents."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Same — hierarchical delegation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LLM reasoning swapped in for brittle scripts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Talk to Tools, Not Each Other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logged reasoning steps in a real triage system</a:t>
            </a:r>
            <a:endParaRPr lang="en-US" sz="1500" dirty="0"/>
          </a:p>
        </p:txBody>
      </p:sp>
      <p:pic>
        <p:nvPicPr>
          <p:cNvPr id="5" name="Image 0" descr="/mnt/user-data/uploads/177173522875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50292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188720"/>
            <a:ext cx="3291840" cy="960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1188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have MORE traffic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 agent-to-agent calls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77840" y="2331720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77840" y="2331720"/>
            <a:ext cx="164592" cy="7498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70448" y="23865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70448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n=405 interactions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577840" y="3227832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77840" y="3227832"/>
            <a:ext cx="164592" cy="7498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70448" y="32826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tool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70448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n=359 interactions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577840" y="4123944"/>
            <a:ext cx="3291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77840" y="4123944"/>
            <a:ext cx="164592" cy="74980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70448" y="4178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 Orch.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70448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n=390 interactions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77840" y="4864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are orchestrators. Tools do the real work.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Sparsity at Every Layer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necessary condition — if software weren't sparse, we couldn't build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7818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1188720"/>
            <a:ext cx="109728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7008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/ SAT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1591056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variables: 6,750-variable problems solved by just 12 'master key' variables (Selman et al.)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548640" cy="77724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05840" y="2103120"/>
            <a:ext cx="7818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2103120"/>
            <a:ext cx="109728" cy="77724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7008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505456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files contain 80% of bugs. Defects cluster. Power-law distributions throughout (Ostrand et al.)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548640" cy="77724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017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05840" y="3017520"/>
            <a:ext cx="7818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017520"/>
            <a:ext cx="109728" cy="77724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07008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77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3419856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apps process petabytes yet exercise fewer than 50 distinct execution paths (Zhang et al.)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54864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931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05840" y="3931920"/>
            <a:ext cx="7818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840" y="3931920"/>
            <a:ext cx="109728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07008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7008" y="4334256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deep-space missions: optimization converges on fewer than 12% of decisions (Feather &amp; Menzies)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 Miller's Law: humans hold 7±2 chunks in working memory. Software written by humans must be sparse.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37360"/>
            <a:ext cx="2286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EZR: Active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C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data. Big results.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EZR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13975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info · limited labels · exploit sparsity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937760" cy="3657600"/>
          </a:xfrm>
          <a:prstGeom prst="rect">
            <a:avLst/>
          </a:prstGeom>
          <a:solidFill>
            <a:srgbClr val="1E0000"/>
          </a:solidFill>
          <a:ln w="12700">
            <a:solidFill>
              <a:srgbClr val="1E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24358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98464" y="1243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98464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 random examples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88366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98464" y="1883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98464" y="2121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√N best  vs  N−√N 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52374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98464" y="25237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98464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Bayes: which unlabeled looks like best?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16382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98464" y="3163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98464" y="3401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most informative example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380390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98464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98464" y="4041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budget exhausted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444398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98464" y="44439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98464" y="4681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explainable regression tree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AC1F2DE-5E29-458F-B9F5-8E6AEE231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79" y="1247492"/>
            <a:ext cx="4590780" cy="34517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EZR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13975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SE tasks · 20 repeated trials · standard laptop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5212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3063240" cy="1078992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60720" y="1280160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12280" y="1280160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62% optimal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2542032"/>
            <a:ext cx="3063240" cy="107899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2542032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812280" y="2542032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90% optimal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3803904"/>
            <a:ext cx="3063240" cy="10789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0" y="3803904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12280" y="3803904"/>
            <a:ext cx="1965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laptop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tasks, 20 trials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rgbClr val="2A0000"/>
          </a:solidFill>
          <a:ln w="12700">
            <a:solidFill>
              <a:srgbClr val="2A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37360"/>
            <a:ext cx="22860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Join This Research?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C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Invitation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Problems — Your Chance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bigger hammers. We are designing smarter architects.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28016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307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Sustainability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" y="1636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SE: compact AI runs in minutes on a laptop,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weeks on a cluster.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963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128016" cy="1143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" y="2569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Explainability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" y="2898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regression trees. Project managers can audit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trust every decision.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58184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758184"/>
            <a:ext cx="128016" cy="114300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" y="3831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77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Efficiency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" y="4160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SVM+TF-IDF beats Big AI: 100× faster, better accuracy.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more with less.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234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234440"/>
            <a:ext cx="128016" cy="11430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0056" y="1307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Human-AI Partnership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0056" y="16367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EZR asks only the most informative questions.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— it does not replace.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4963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496312"/>
            <a:ext cx="128016" cy="11430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0056" y="2569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MOOT Repository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0056" y="2898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63+ SE tasks. Open data. Real benchmarks.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us: add your problem to MOOT.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0000"/>
          </a:solidFill>
          <a:ln w="12700">
            <a:solidFill>
              <a:srgbClr val="18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CC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Open Question: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"Alien Code"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2377440"/>
          </a:xfrm>
          <a:prstGeom prst="rect">
            <a:avLst/>
          </a:prstGeom>
          <a:solidFill>
            <a:srgbClr val="2A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exists because </a:t>
            </a: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cognitive limits</a:t>
            </a: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it.
</a:t>
            </a: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obey Miller's Law: 7±2 chunks of working memory.
So the code humans write is necessarily regular and sparse.
</a:t>
            </a: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face no such constraint.</a:t>
            </a: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can generate code with
dense, high-dimensional dependencies (|A'| ≫ 10).
Will AI code become </a:t>
            </a: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"unher-dable"?</a:t>
            </a: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we need </a:t>
            </a: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"Sparsity Constraints"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safety requirement for generative AI?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YOUR research problem. Nobody has the answer yet.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Rediscover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EZR  ·  MOOT  ·  KLAS  ·  Active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timm@ieee.org  ·  NC State  ·  github.com/timm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"Intelligence requires more than just size."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Case for Compact AI, CACM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1181</Words>
  <Application>Microsoft Macintosh PowerPoint</Application>
  <PresentationFormat>On-screen Show (16:9)</PresentationFormat>
  <Paragraphs>233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+ KLAS: The Case for Compact AI</dc:title>
  <dc:subject>PptxGenJS Presentation</dc:subject>
  <dc:creator>PptxGenJS</dc:creator>
  <cp:lastModifiedBy>Timothy James Menzies</cp:lastModifiedBy>
  <cp:revision>3</cp:revision>
  <dcterms:created xsi:type="dcterms:W3CDTF">2026-02-22T05:04:47Z</dcterms:created>
  <dcterms:modified xsi:type="dcterms:W3CDTF">2026-02-22T05:11:41Z</dcterms:modified>
</cp:coreProperties>
</file>