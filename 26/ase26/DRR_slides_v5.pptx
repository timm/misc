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TWh</c:v>
                </c:pt>
              </c:strCache>
            </c:strRef>
          </c:tx>
          <c:spPr>
            <a:solidFill>
              <a:srgbClr val="8C9BA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537-FA4F-8B65-8EAE5127140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3537-FA4F-8B65-8EAE51271407}"/>
              </c:ext>
            </c:extLst>
          </c:dPt>
          <c:dPt>
            <c:idx val="2"/>
            <c:invertIfNegative val="0"/>
            <c:bubble3D val="0"/>
            <c:spPr>
              <a:solidFill>
                <a:srgbClr val="3D6B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537-FA4F-8B65-8EAE51271407}"/>
              </c:ext>
            </c:extLst>
          </c:dPt>
          <c:dPt>
            <c:idx val="3"/>
            <c:invertIfNegative val="0"/>
            <c:bubble3D val="0"/>
            <c:spPr>
              <a:solidFill>
                <a:srgbClr val="3D6B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537-FA4F-8B65-8EAE5127140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3537-FA4F-8B65-8EAE51271407}"/>
              </c:ext>
            </c:extLst>
          </c:dPt>
          <c:dPt>
            <c:idx val="5"/>
            <c:invertIfNegative val="0"/>
            <c:bubble3D val="0"/>
            <c:spPr>
              <a:solidFill>
                <a:srgbClr val="3D6B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537-FA4F-8B65-8EAE5127140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US 2014</c:v>
                </c:pt>
                <c:pt idx="1">
                  <c:v>US 2023</c:v>
                </c:pt>
                <c:pt idx="2">
                  <c:v>US 2028 low</c:v>
                </c:pt>
                <c:pt idx="3">
                  <c:v>US 2028 high</c:v>
                </c:pt>
                <c:pt idx="4">
                  <c:v>World 2024</c:v>
                </c:pt>
                <c:pt idx="5">
                  <c:v>World 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58</c:v>
                </c:pt>
                <c:pt idx="1">
                  <c:v>176</c:v>
                </c:pt>
                <c:pt idx="2">
                  <c:v>325</c:v>
                </c:pt>
                <c:pt idx="3">
                  <c:v>580</c:v>
                </c:pt>
                <c:pt idx="4">
                  <c:v>415</c:v>
                </c:pt>
                <c:pt idx="5">
                  <c:v>945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537-FA4F-8B65-8EAE5127140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8063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Thesis: if SE people build our own AI, then AI becomes better, faster and cheaper.
If Meta, OpenAI, Google or Anthropic build our AI:
- Unstable. Models change or retire on their schedule.
- Opaque. Closed weights; we cannot audit or explain.
- Their goals first. SE needs come second.
- We stay consumers, not creators.
- Wrong data. Tuned for web text. SE data is small, local, simple.
- Costly. We pay for compute we do not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233338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should build its own AI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D6B8C"/>
                </a:solidFill>
              </a:rPr>
              <a:t>Better, faster, cheaper: because SE data is simpler than it looks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933"/>
                </a:solidFill>
              </a:rPr>
              <a:t>Tim Menzies</a:t>
            </a:r>
            <a:r>
              <a:rPr lang="en-US" sz="1600" dirty="0">
                <a:solidFill>
                  <a:srgbClr val="1F2933"/>
                </a:solidFill>
              </a:rPr>
              <a:t> · Professor, NC State University · timm@ieee.org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2933"/>
                </a:solidFill>
              </a:rPr>
              <a:t>Andre Lustosa</a:t>
            </a:r>
            <a:r>
              <a:rPr lang="en-US" sz="1600" dirty="0">
                <a:solidFill>
                  <a:srgbClr val="1F2933"/>
                </a:solidFill>
              </a:rPr>
              <a:t> · Engineer &amp; Team Lead, Red Hat · alustosa@redhat.com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C6B73"/>
                </a:solidFill>
              </a:rPr>
              <a:t>Banner: ASE 2026; photo by Marek Jankola, CC BY.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AI software, are you…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13232" y="1005840"/>
            <a:ext cx="3648456" cy="3730752"/>
          </a:xfrm>
          <a:prstGeom prst="ellipse">
            <a:avLst/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13232" y="2377440"/>
            <a:ext cx="3648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645152" y="1005840"/>
            <a:ext cx="3648456" cy="3730752"/>
          </a:xfrm>
          <a:prstGeom prst="ellipse">
            <a:avLst/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645152" y="2377440"/>
            <a:ext cx="3648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Creator!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645152" y="306324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6B73"/>
                </a:solidFill>
              </a:rPr>
              <a:t>(me)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AI software, are you…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13232" y="1005840"/>
            <a:ext cx="3648456" cy="3730752"/>
          </a:xfrm>
          <a:prstGeom prst="ellipse">
            <a:avLst/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13232" y="2377440"/>
            <a:ext cx="3648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645152" y="1005840"/>
            <a:ext cx="3648456" cy="3730752"/>
          </a:xfrm>
          <a:prstGeom prst="ellipse">
            <a:avLst/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4645152" y="2377440"/>
            <a:ext cx="3648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Creator!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645152" y="3063240"/>
            <a:ext cx="3648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C6B73"/>
                </a:solidFill>
              </a:rPr>
              <a:t>(me)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806440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600" b="1" dirty="0">
                <a:solidFill>
                  <a:srgbClr val="3D6B8C"/>
                </a:solidFill>
              </a:rPr>
              <a:t>Why?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600" b="1" dirty="0">
                <a:solidFill>
                  <a:srgbClr val="3D6B8C"/>
                </a:solidFill>
              </a:rPr>
              <a:t>How?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600" b="1" dirty="0">
                <a:solidFill>
                  <a:srgbClr val="3D6B8C"/>
                </a:solidFill>
              </a:rPr>
              <a:t>So what?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900" name="Google Shape;64;p14"/>
          <p:cNvSpPr/>
          <p:nvPr/>
        </p:nvSpPr>
        <p:spPr>
          <a:xfrm>
            <a:off x="1050400" y="1116363"/>
            <a:ext cx="2867000" cy="3570150"/>
          </a:xfrm>
          <a:custGeom>
            <a:avLst/>
            <a:gdLst/>
            <a:ahLst/>
            <a:cxnLst/>
            <a:rect l="l" t="t" r="r" b="b"/>
            <a:pathLst>
              <a:path w="114680" h="142806" extrusionOk="0">
                <a:moveTo>
                  <a:pt x="0" y="0"/>
                </a:moveTo>
                <a:cubicBezTo>
                  <a:pt x="5245" y="2098"/>
                  <a:pt x="967" y="11264"/>
                  <a:pt x="1826" y="16847"/>
                </a:cubicBezTo>
                <a:cubicBezTo>
                  <a:pt x="2754" y="22880"/>
                  <a:pt x="7780" y="27899"/>
                  <a:pt x="12584" y="31664"/>
                </a:cubicBezTo>
                <a:cubicBezTo>
                  <a:pt x="24393" y="40919"/>
                  <a:pt x="40959" y="44012"/>
                  <a:pt x="50946" y="55209"/>
                </a:cubicBezTo>
                <a:cubicBezTo>
                  <a:pt x="54559" y="59260"/>
                  <a:pt x="53549" y="66248"/>
                  <a:pt x="57239" y="70229"/>
                </a:cubicBezTo>
                <a:cubicBezTo>
                  <a:pt x="64459" y="78019"/>
                  <a:pt x="81035" y="82214"/>
                  <a:pt x="79769" y="92759"/>
                </a:cubicBezTo>
                <a:cubicBezTo>
                  <a:pt x="79252" y="97064"/>
                  <a:pt x="82483" y="101098"/>
                  <a:pt x="84843" y="104735"/>
                </a:cubicBezTo>
                <a:cubicBezTo>
                  <a:pt x="89695" y="112214"/>
                  <a:pt x="94867" y="119504"/>
                  <a:pt x="99254" y="127265"/>
                </a:cubicBezTo>
                <a:cubicBezTo>
                  <a:pt x="102649" y="133272"/>
                  <a:pt x="113007" y="147761"/>
                  <a:pt x="114680" y="141067"/>
                </a:cubicBezTo>
              </a:path>
            </a:pathLst>
          </a:custGeom>
          <a:noFill/>
          <a:ln w="152400" cap="flat" cmpd="sng">
            <a:solidFill>
              <a:srgbClr val="A44A3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01" name="Google Shape;65;p14"/>
          <p:cNvSpPr/>
          <p:nvPr/>
        </p:nvSpPr>
        <p:spPr>
          <a:xfrm>
            <a:off x="1192475" y="1121438"/>
            <a:ext cx="3171475" cy="3704275"/>
          </a:xfrm>
          <a:custGeom>
            <a:avLst/>
            <a:gdLst/>
            <a:ahLst/>
            <a:cxnLst/>
            <a:rect l="l" t="t" r="r" b="b"/>
            <a:pathLst>
              <a:path w="126859" h="148171" extrusionOk="0">
                <a:moveTo>
                  <a:pt x="126859" y="0"/>
                </a:moveTo>
                <a:cubicBezTo>
                  <a:pt x="111202" y="1566"/>
                  <a:pt x="94961" y="10771"/>
                  <a:pt x="86061" y="23748"/>
                </a:cubicBezTo>
                <a:cubicBezTo>
                  <a:pt x="82896" y="28363"/>
                  <a:pt x="84862" y="35303"/>
                  <a:pt x="81799" y="39986"/>
                </a:cubicBezTo>
                <a:cubicBezTo>
                  <a:pt x="79099" y="44115"/>
                  <a:pt x="73208" y="46202"/>
                  <a:pt x="71853" y="50946"/>
                </a:cubicBezTo>
                <a:cubicBezTo>
                  <a:pt x="70245" y="56573"/>
                  <a:pt x="72291" y="63653"/>
                  <a:pt x="68605" y="68199"/>
                </a:cubicBezTo>
                <a:cubicBezTo>
                  <a:pt x="63398" y="74621"/>
                  <a:pt x="52512" y="74117"/>
                  <a:pt x="46887" y="80175"/>
                </a:cubicBezTo>
                <a:cubicBezTo>
                  <a:pt x="44293" y="82969"/>
                  <a:pt x="44306" y="87627"/>
                  <a:pt x="41610" y="90323"/>
                </a:cubicBezTo>
                <a:cubicBezTo>
                  <a:pt x="38200" y="93733"/>
                  <a:pt x="33339" y="95355"/>
                  <a:pt x="29634" y="98442"/>
                </a:cubicBezTo>
                <a:cubicBezTo>
                  <a:pt x="20935" y="105691"/>
                  <a:pt x="16507" y="117392"/>
                  <a:pt x="13396" y="128280"/>
                </a:cubicBezTo>
                <a:cubicBezTo>
                  <a:pt x="11199" y="135966"/>
                  <a:pt x="2529" y="140588"/>
                  <a:pt x="0" y="148171"/>
                </a:cubicBezTo>
              </a:path>
            </a:pathLst>
          </a:custGeom>
          <a:noFill/>
          <a:ln w="152400" cap="flat" cmpd="sng">
            <a:solidFill>
              <a:srgbClr val="A44A3F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big AI labs build our AI…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658368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…we lose control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27632"/>
            <a:ext cx="3566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3"/>
                </a:solidFill>
              </a:rPr>
              <a:t>Unstable. </a:t>
            </a:r>
            <a:r>
              <a:rPr lang="en-US" sz="1400" dirty="0">
                <a:solidFill>
                  <a:srgbClr val="1F2933"/>
                </a:solidFill>
              </a:rPr>
              <a:t>Models change or retire on their schedule.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3"/>
                </a:solidFill>
              </a:rPr>
              <a:t>Opaque. </a:t>
            </a:r>
            <a:r>
              <a:rPr lang="en-US" sz="1400" dirty="0">
                <a:solidFill>
                  <a:srgbClr val="1F2933"/>
                </a:solidFill>
              </a:rPr>
              <a:t>Closed weights; no audit, no explanation.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3"/>
                </a:solidFill>
              </a:rPr>
              <a:t>Their goals first. </a:t>
            </a:r>
            <a:r>
              <a:rPr lang="en-US" sz="1400" dirty="0">
                <a:solidFill>
                  <a:srgbClr val="1F2933"/>
                </a:solidFill>
              </a:rPr>
              <a:t>SE needs come second.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3"/>
                </a:solidFill>
              </a:rPr>
              <a:t>We stay consumers. </a:t>
            </a:r>
            <a:r>
              <a:rPr lang="en-US" sz="1400" dirty="0">
                <a:solidFill>
                  <a:srgbClr val="1F2933"/>
                </a:solidFill>
              </a:rPr>
              <a:t>Only 13 of 229 SE papers on LLMs compared them to anything else </a:t>
            </a:r>
            <a:r>
              <a:rPr lang="en-US" sz="1400" dirty="0">
                <a:solidFill>
                  <a:srgbClr val="5C6B73"/>
                </a:solidFill>
              </a:rPr>
              <a:t>[Hou, TOSEM'24]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3977640" cy="3520440"/>
          </a:xfrm>
          <a:prstGeom prst="roundRect">
            <a:avLst>
              <a:gd name="adj" fmla="val 2078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910328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we do not need them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10328" y="1627632"/>
            <a:ext cx="3566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3"/>
                </a:solidFill>
              </a:rPr>
              <a:t>Wrong data. </a:t>
            </a:r>
            <a:r>
              <a:rPr lang="en-US" sz="1400" dirty="0">
                <a:solidFill>
                  <a:srgbClr val="1F2933"/>
                </a:solidFill>
              </a:rPr>
              <a:t>SE data is small and simple.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• Low </a:t>
            </a:r>
            <a:r>
              <a:rPr lang="en-US" sz="1400" b="1" dirty="0">
                <a:solidFill>
                  <a:srgbClr val="A44A3F"/>
                </a:solidFill>
              </a:rPr>
              <a:t>intrinsic dimensionality</a:t>
            </a:r>
            <a:r>
              <a:rPr lang="en-US" sz="1400" dirty="0">
                <a:solidFill>
                  <a:srgbClr val="1F2933"/>
                </a:solidFill>
              </a:rPr>
              <a:t>: </a:t>
            </a:r>
            <a:r>
              <a:rPr lang="en-US" sz="1400" b="1" dirty="0">
                <a:solidFill>
                  <a:srgbClr val="A44A3F"/>
                </a:solidFill>
              </a:rPr>
              <a:t>DODGE</a:t>
            </a:r>
            <a:r>
              <a:rPr lang="en-US" sz="1400" dirty="0">
                <a:solidFill>
                  <a:srgbClr val="1F2933"/>
                </a:solidFill>
              </a:rPr>
              <a:t> wins on most SE data, 6/31 non-SE </a:t>
            </a:r>
            <a:r>
              <a:rPr lang="en-US" sz="1400" dirty="0">
                <a:solidFill>
                  <a:srgbClr val="5C6B73"/>
                </a:solidFill>
              </a:rPr>
              <a:t>[Agrawal, TSE'22]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• </a:t>
            </a:r>
            <a:r>
              <a:rPr lang="en-US" sz="1400" b="1" dirty="0">
                <a:solidFill>
                  <a:srgbClr val="A44A3F"/>
                </a:solidFill>
              </a:rPr>
              <a:t>DRR</a:t>
            </a:r>
            <a:r>
              <a:rPr lang="en-US" sz="1400" dirty="0">
                <a:solidFill>
                  <a:srgbClr val="1F2933"/>
                </a:solidFill>
              </a:rPr>
              <a:t> &gt; 0.35 in 38/50 SE data sets </a:t>
            </a:r>
            <a:r>
              <a:rPr lang="en-US" sz="1400" dirty="0">
                <a:solidFill>
                  <a:srgbClr val="5C6B73"/>
                </a:solidFill>
              </a:rPr>
              <a:t>[Lustosa, TSE'26]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3"/>
                </a:solidFill>
              </a:rPr>
              <a:t>Costly. </a:t>
            </a:r>
            <a:r>
              <a:rPr lang="en-US" sz="1400" dirty="0">
                <a:solidFill>
                  <a:srgbClr val="1F2933"/>
                </a:solidFill>
              </a:rPr>
              <a:t>Compute we do not need.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• </a:t>
            </a:r>
            <a:r>
              <a:rPr lang="en-US" sz="1400" b="1" dirty="0">
                <a:solidFill>
                  <a:srgbClr val="A44A3F"/>
                </a:solidFill>
              </a:rPr>
              <a:t>DODGE</a:t>
            </a:r>
            <a:r>
              <a:rPr lang="en-US" sz="1400" dirty="0">
                <a:solidFill>
                  <a:srgbClr val="1F2933"/>
                </a:solidFill>
              </a:rPr>
              <a:t>: 30 evaluations, not thousands </a:t>
            </a:r>
            <a:r>
              <a:rPr lang="en-US" sz="1400" dirty="0">
                <a:solidFill>
                  <a:srgbClr val="5C6B73"/>
                </a:solidFill>
              </a:rPr>
              <a:t>[Agrawal, TSE'22]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• </a:t>
            </a:r>
            <a:r>
              <a:rPr lang="en-US" sz="1400" b="1" dirty="0">
                <a:solidFill>
                  <a:srgbClr val="A44A3F"/>
                </a:solidFill>
              </a:rPr>
              <a:t>LITE</a:t>
            </a:r>
            <a:r>
              <a:rPr lang="en-US" sz="1400" dirty="0">
                <a:solidFill>
                  <a:srgbClr val="1F2933"/>
                </a:solidFill>
              </a:rPr>
              <a:t>: seconds, not 20+ minutes </a:t>
            </a:r>
            <a:r>
              <a:rPr lang="en-US" sz="1400" dirty="0">
                <a:solidFill>
                  <a:srgbClr val="5C6B73"/>
                </a:solidFill>
              </a:rPr>
              <a:t>[Lustosa, TSE'26]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C6B73"/>
                </a:solidFill>
              </a:rPr>
              <a:t>Hou et al., ACM TOSEM 33(8), 2024.  Agrawal et al., IEEE TSE 48(8), 2022.  Lustosa &amp; Menzies, IEEE TSE,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red terms mean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640080" y="114300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A4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dimensionality (I)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0512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</a:rPr>
              <a:t>How many dimensions the data really uses. Rows along a road are 1-D, even in a 20-column table.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00400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3D6B8C"/>
                </a:solidFill>
              </a:rPr>
              <a:t>Median: SE 3.1, non-SE 5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</a:rPr>
              <a:t>[Agrawal, TSE'22]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64408" y="100584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447288" y="114300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A4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DODGE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1810512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</a:rPr>
              <a:t>Skips settings that score within ε of ones already seen. Stops after 30 evaluations.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3200400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3D6B8C"/>
                </a:solidFill>
              </a:rPr>
              <a:t>Good on low-I data only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</a:rPr>
              <a:t>[Agrawal, TSE'22]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71616" y="100584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254496" y="114300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A4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DRR = 1 − I/R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54496" y="1810512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933"/>
                </a:solidFill>
              </a:rPr>
              <a:t>Share of the R raw columns that the data does not need.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54496" y="3200400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3D6B8C"/>
                </a:solidFill>
              </a:rPr>
              <a:t>DRR &gt; 0.35: 30 evaluations suffice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</a:rPr>
              <a:t>[Lustosa, TSE'26]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A44A3F"/>
                </a:solidFill>
              </a:rPr>
              <a:t>LITE</a:t>
            </a:r>
            <a:r>
              <a:rPr lang="en-US" sz="1400" dirty="0">
                <a:solidFill>
                  <a:srgbClr val="1F2933"/>
                </a:solidFill>
              </a:rPr>
              <a:t> = 30-evaluation optimizer.   </a:t>
            </a:r>
            <a:r>
              <a:rPr lang="en-US" sz="1400" b="1" dirty="0">
                <a:solidFill>
                  <a:srgbClr val="A44A3F"/>
                </a:solidFill>
              </a:rPr>
              <a:t>DEHB</a:t>
            </a:r>
            <a:r>
              <a:rPr lang="en-US" sz="1400" dirty="0">
                <a:solidFill>
                  <a:srgbClr val="1F2933"/>
                </a:solidFill>
              </a:rPr>
              <a:t> = 3,000-evaluation state of the art.   </a:t>
            </a:r>
            <a:r>
              <a:rPr lang="en-US" sz="1400" b="1" dirty="0">
                <a:solidFill>
                  <a:srgbClr val="A44A3F"/>
                </a:solidFill>
              </a:rPr>
              <a:t>d2h</a:t>
            </a:r>
            <a:r>
              <a:rPr lang="en-US" sz="1400" dirty="0">
                <a:solidFill>
                  <a:srgbClr val="1F2933"/>
                </a:solidFill>
              </a:rPr>
              <a:t> = distance to ideal (lower is better).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LITE: 30 lines. DEHB: three AI methods.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77640" cy="3154680"/>
          </a:xfrm>
          <a:prstGeom prst="roundRect">
            <a:avLst>
              <a:gd name="adj" fmla="val 2319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658368" y="11155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</a:t>
            </a:r>
            <a:r>
              <a:rPr lang="en-US" sz="1400" dirty="0">
                <a:solidFill>
                  <a:srgbClr val="5C6B73"/>
                </a:solidFill>
              </a:rPr>
              <a:t>  simple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4592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1F2933"/>
                </a:solidFill>
              </a:rPr>
              <a:t>Label a few rows; split into "best" and "rest"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1F2933"/>
                </a:solidFill>
              </a:rPr>
              <a:t>Train Bayes: best vs. rest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1F2933"/>
                </a:solidFill>
              </a:rPr>
              <a:t>Label the most "best"-looking row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1F2933"/>
                </a:solidFill>
              </a:rPr>
              <a:t>Stop at 30 labels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383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 lines of Python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evaluations · seconds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3154680"/>
          </a:xfrm>
          <a:prstGeom prst="roundRect">
            <a:avLst>
              <a:gd name="adj" fmla="val 2319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910328" y="11155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4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DEHB</a:t>
            </a:r>
            <a:r>
              <a:rPr lang="en-US" sz="1400" dirty="0">
                <a:solidFill>
                  <a:srgbClr val="5C6B73"/>
                </a:solidFill>
              </a:rPr>
              <a:t>  state of the art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910328" y="164592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1F2933"/>
                </a:solidFill>
              </a:rPr>
              <a:t>Hyperband: try many budgets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1F2933"/>
                </a:solidFill>
              </a:rPr>
              <a:t>Successive halving: drop weak settings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1F2933"/>
                </a:solidFill>
              </a:rPr>
              <a:t>Differential evolution at each budget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10328" y="3383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A4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Beats BOHB and Hyperopt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A4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 evaluations · 20+ minutes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51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On SE data with DRR &gt; 0.35, both find the same answer.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C6B73"/>
                </a:solidFill>
              </a:rPr>
              <a:t>LITE: Menzies &amp; Lustosa, arXiv:2405.12920; github.com/timm/ezr.  DEHB: Awad et al., IJCAI'21.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 and DEHB come from different families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Optimizer families. </a:t>
            </a:r>
            <a:r>
              <a:rPr lang="en-US" sz="1400" b="1" dirty="0">
                <a:solidFill>
                  <a:srgbClr val="A44A3F"/>
                </a:solidFill>
              </a:rPr>
              <a:t>Red</a:t>
            </a:r>
            <a:r>
              <a:rPr lang="en-US" sz="1400" dirty="0">
                <a:solidFill>
                  <a:srgbClr val="1F2933"/>
                </a:solidFill>
              </a:rPr>
              <a:t>: the three we compared.</a:t>
            </a:r>
            <a:endParaRPr lang="en-US" sz="1400" dirty="0"/>
          </a:p>
        </p:txBody>
      </p:sp>
      <p:pic>
        <p:nvPicPr>
          <p:cNvPr id="4" name="Image 0" descr="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394960" cy="328155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46520" y="9144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Runtime</a:t>
            </a:r>
            <a:r>
              <a:rPr lang="en-US" sz="1400" dirty="0">
                <a:solidFill>
                  <a:srgbClr val="1F2933"/>
                </a:solidFill>
              </a:rPr>
              <a:t> (s, log scale)</a:t>
            </a:r>
            <a:endParaRPr lang="en-US" sz="1400" dirty="0"/>
          </a:p>
        </p:txBody>
      </p:sp>
      <p:pic>
        <p:nvPicPr>
          <p:cNvPr id="6" name="Image 1" descr="run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234440"/>
            <a:ext cx="1832631" cy="3337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C6B73"/>
                </a:solidFill>
              </a:rPr>
              <a:t>Lustosa &amp; Menzies, IEEE TSE, 2026, Figs. 5 and 6.C. DEHB ≈ 1,000+ s; LITE and random &lt; 50 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DRR predicts when simple is enough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7830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3"/>
                </a:solidFill>
              </a:rPr>
              <a:t>Each dot is one data set.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A44A3F"/>
                </a:solidFill>
              </a:rPr>
              <a:t>Red</a:t>
            </a:r>
            <a:r>
              <a:rPr lang="en-US" sz="1500" dirty="0">
                <a:solidFill>
                  <a:srgbClr val="1F2933"/>
                </a:solidFill>
              </a:rPr>
              <a:t>: DEHB beat LITE.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4E8F4E"/>
                </a:solidFill>
              </a:rPr>
              <a:t>Green</a:t>
            </a:r>
            <a:r>
              <a:rPr lang="en-US" sz="1500" dirty="0">
                <a:solidFill>
                  <a:srgbClr val="1F2933"/>
                </a:solidFill>
              </a:rPr>
              <a:t>: a tie.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3"/>
                </a:solidFill>
              </a:rPr>
              <a:t>Top: </a:t>
            </a:r>
            <a:r>
              <a:rPr lang="en-US" sz="1500" dirty="0">
                <a:solidFill>
                  <a:srgbClr val="1F2933"/>
                </a:solidFill>
              </a:rPr>
              <a:t>intrinsic dimensionality alone does not split them.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3"/>
                </a:solidFill>
              </a:rPr>
              <a:t>Bottom: </a:t>
            </a:r>
            <a:r>
              <a:rPr lang="en-US" sz="1500" dirty="0">
                <a:solidFill>
                  <a:srgbClr val="1F2933"/>
                </a:solidFill>
              </a:rPr>
              <a:t>DRR does. Above 0.35, every data set is a tie.</a:t>
            </a:r>
            <a:endParaRPr lang="en-US" sz="1500" dirty="0"/>
          </a:p>
        </p:txBody>
      </p:sp>
      <p:pic>
        <p:nvPicPr>
          <p:cNvPr id="4" name="Image 0" descr="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74320"/>
            <a:ext cx="5303520" cy="1943880"/>
          </a:xfrm>
          <a:prstGeom prst="rect">
            <a:avLst/>
          </a:prstGeom>
        </p:spPr>
      </p:pic>
      <p:pic>
        <p:nvPicPr>
          <p:cNvPr id="5" name="Image 1" descr="fig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331720"/>
            <a:ext cx="5303520" cy="193466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C6B73"/>
                </a:solidFill>
              </a:rPr>
              <a:t>Lustosa &amp; Menzies, IEEE TSE, 2026, Figs. 3 and 4.</a:t>
            </a:r>
            <a:endParaRPr lang="en-US" sz="10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SE data, 30 evaluations match 3,000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B8C"/>
                </a:solidFill>
              </a:rPr>
              <a:t>SE data</a:t>
            </a:r>
            <a:r>
              <a:rPr lang="en-US" sz="1500" dirty="0">
                <a:solidFill>
                  <a:srgbClr val="1F2933"/>
                </a:solidFill>
              </a:rPr>
              <a:t> (50 tasks): LITE = DEHB</a:t>
            </a:r>
            <a:endParaRPr lang="en-US" sz="1500" dirty="0"/>
          </a:p>
        </p:txBody>
      </p:sp>
      <p:pic>
        <p:nvPicPr>
          <p:cNvPr id="4" name="Image 0" descr="f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4206240" cy="2514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846320" y="914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A3F"/>
                </a:solidFill>
              </a:rPr>
              <a:t>Non-SE data</a:t>
            </a:r>
            <a:r>
              <a:rPr lang="en-US" sz="1500" dirty="0">
                <a:solidFill>
                  <a:srgbClr val="1F2933"/>
                </a:solidFill>
              </a:rPr>
              <a:t> (UCI): DEHB wins</a:t>
            </a:r>
            <a:endParaRPr lang="en-US" sz="1500" dirty="0"/>
          </a:p>
        </p:txBody>
      </p:sp>
      <p:pic>
        <p:nvPicPr>
          <p:cNvPr id="6" name="Image 1" descr="f7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280160"/>
            <a:ext cx="3840480" cy="108535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846320" y="25146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5C6B73"/>
                </a:solidFill>
              </a:rPr>
              <a:t>d2h median over 20 repeats; lower is better.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SE: LITE, DEHB and random overlap.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Non-SE: DEHB (red) is lowest.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F2933"/>
                </a:solidFill>
              </a:rPr>
              <a:t>Simple wins because of the data, not luck.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C6B73"/>
                </a:solidFill>
              </a:rPr>
              <a:t>Lustosa &amp; Menzies, IEEE TSE, 2026, Figs. 6.A and 7.A.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data before you buy the compute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640080" y="114300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Why?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494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3"/>
                </a:solidFill>
              </a:rPr>
              <a:t>Big-lab AI is unstable, opaque and tuned for other data.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3"/>
                </a:solidFill>
              </a:rPr>
              <a:t>SE data is simpler: DRR &gt; 0.35 in 38 of 50 SE data sets.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64408" y="100584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3447288" y="114300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How?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3447288" y="1737360"/>
            <a:ext cx="22494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3"/>
                </a:solidFill>
              </a:rPr>
              <a:t>Measure DRR first.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3"/>
                </a:solidFill>
              </a:rPr>
              <a:t>If DRR &gt; 0.35, use LITE: 30 labels, ~30 lines of code.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71616" y="100584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254496" y="114300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what?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254496" y="1737360"/>
            <a:ext cx="22494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3"/>
                </a:solidFill>
              </a:rPr>
              <a:t>Same results as DEHB, 100× faster.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3"/>
                </a:solidFill>
              </a:rPr>
              <a:t>Data-centre power will double by 2030. Frugal AI matters.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data needs SE AI. </a:t>
            </a:r>
            <a:r>
              <a:rPr lang="en-US" sz="2200" b="1" dirty="0">
                <a:solidFill>
                  <a:srgbClr val="A4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creators, not consumers.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C6B73"/>
                </a:solidFill>
              </a:rPr>
              <a:t>Agrawal et al., TSE'22.  Lustosa &amp; Menzies, TSE'26.  IEA, Energy and AI,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485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Data-centre power will double by 2030</a:t>
            </a:r>
            <a:endParaRPr lang="en-US" sz="2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1051560"/>
          <a:ext cx="5577840" cy="333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891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</a:rPr>
              <a:t>TWh per year.  Grey: reported.  </a:t>
            </a:r>
            <a:r>
              <a:rPr lang="en-US" sz="1100" b="1" dirty="0">
                <a:solidFill>
                  <a:srgbClr val="3D6B8C"/>
                </a:solidFill>
              </a:rPr>
              <a:t>Blue: projected.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309360" y="105156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6492240" y="1188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×2.3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828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World: 415 TWh (2024) to ~945 TWh (2030)¹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283464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E6E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6492240" y="29718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6.7–12%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36118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of US power by 2028, up from 4.4% in 2023²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C6B73"/>
                </a:solidFill>
              </a:rPr>
              <a:t>¹ IEA, Energy and AI, 2025.  ² LBNL / US DOE, 2024 US Data Center Energy Usage Report.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626864" y="3456432"/>
            <a:ext cx="4023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3D6B8C"/>
                </a:solidFill>
              </a:rPr>
              <a:t>Numeric Xs? </a:t>
            </a:r>
            <a:r>
              <a:rPr lang="en-US" sz="1400" dirty="0">
                <a:solidFill>
                  <a:srgbClr val="1F2933"/>
                </a:solidFill>
              </a:rPr>
              <a:t>Discretize: </a:t>
            </a:r>
            <a:r>
              <a:rPr lang="en-US" sz="1400" b="1" dirty="0">
                <a:solidFill>
                  <a:srgbClr val="A44A3F"/>
                </a:solidFill>
              </a:rPr>
              <a:t>int(BINS/(1+exp(-1.7·z)))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3D6B8C"/>
                </a:solidFill>
              </a:rPr>
              <a:t>Numeric Ys? </a:t>
            </a:r>
            <a:r>
              <a:rPr lang="en-US" sz="1400" dirty="0">
                <a:solidFill>
                  <a:srgbClr val="1F2933"/>
                </a:solidFill>
              </a:rPr>
              <a:t>Use kNN.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3D6B8C"/>
                </a:solidFill>
              </a:rPr>
              <a:t>Few labels? </a:t>
            </a:r>
            <a:r>
              <a:rPr lang="en-US" sz="1400" dirty="0">
                <a:solidFill>
                  <a:srgbClr val="1F2933"/>
                </a:solidFill>
              </a:rPr>
              <a:t>50–100 random rows work well.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3D6B8C"/>
                </a:solidFill>
              </a:rPr>
              <a:t>Rare classes? </a:t>
            </a:r>
            <a:r>
              <a:rPr lang="en-US" sz="1400" dirty="0">
                <a:solidFill>
                  <a:srgbClr val="1F2933"/>
                </a:solidFill>
              </a:rPr>
              <a:t>TWCNB </a:t>
            </a:r>
            <a:r>
              <a:rPr lang="en-US" sz="1400" dirty="0">
                <a:solidFill>
                  <a:srgbClr val="5C6B73"/>
                </a:solidFill>
              </a:rPr>
              <a:t>[Rennie, ICML'03]</a:t>
            </a:r>
            <a:endParaRPr lang="en-US" sz="14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data is different</a:t>
            </a:r>
            <a:endParaRPr lang="en-US" sz="2800" dirty="0"/>
          </a:p>
        </p:txBody>
      </p:sp>
      <p:pic>
        <p:nvPicPr>
          <p:cNvPr id="3" name="Image 0" descr="co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0"/>
            <a:ext cx="3191256" cy="5138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227064" y="1268273"/>
            <a:ext cx="2752344" cy="0"/>
          </a:xfrm>
          <a:prstGeom prst="line">
            <a:avLst/>
          </a:prstGeom>
          <a:noFill/>
          <a:ln w="38100">
            <a:solidFill>
              <a:srgbClr val="A44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6309360" y="640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A3F"/>
                </a:solidFill>
              </a:rPr>
              <a:t>y = b₀ + b₁x₁ + b₂x₂ + …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5029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Naturalness</a:t>
            </a:r>
            <a:endParaRPr lang="en-US" sz="1800" dirty="0"/>
          </a:p>
          <a:p>
            <a:pPr marL="355600" lvl="1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People write code for people to read, so code repeats a few known forms [Hindle, CACM'16]</a:t>
            </a:r>
            <a:endParaRPr lang="en-US" sz="1800" dirty="0"/>
          </a:p>
          <a:p>
            <a:pPr marL="355600" lvl="1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Far less random than, e.g., EM spikes on the sun</a:t>
            </a:r>
            <a:endParaRPr lang="en-US" sz="1800" dirty="0"/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3D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Locality</a:t>
            </a:r>
            <a:endParaRPr lang="en-US" sz="1800" dirty="0"/>
          </a:p>
          <a:p>
            <a:pPr marL="355600" lvl="1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Different people, skills, goals and platforms</a:t>
            </a:r>
            <a:endParaRPr lang="en-US" sz="1800" dirty="0"/>
          </a:p>
          <a:p>
            <a:pPr marL="355600" lvl="1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</a:rPr>
              <a:t>More data does not mean less variance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C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 Simple">
  <a:themeElements>
    <a:clrScheme name="SE Simple">
      <a:dk1>
        <a:srgbClr val="1F2933"/>
      </a:dk1>
      <a:lt1>
        <a:srgbClr val="FAFAFA"/>
      </a:lt1>
      <a:dk2>
        <a:srgbClr val="2F4858"/>
      </a:dk2>
      <a:lt2>
        <a:srgbClr val="E6ECF0"/>
      </a:lt2>
      <a:accent1>
        <a:srgbClr val="3D6B8C"/>
      </a:accent1>
      <a:accent2>
        <a:srgbClr val="6B8F71"/>
      </a:accent2>
      <a:accent3>
        <a:srgbClr val="A44A3F"/>
      </a:accent3>
      <a:accent4>
        <a:srgbClr val="8C9BA5"/>
      </a:accent4>
      <a:accent5>
        <a:srgbClr val="C9D6DF"/>
      </a:accent5>
      <a:accent6>
        <a:srgbClr val="5C6B73"/>
      </a:accent6>
      <a:hlink>
        <a:srgbClr val="3D6B8C"/>
      </a:hlink>
      <a:folHlink>
        <a:srgbClr val="6B8F71"/>
      </a:folHlink>
    </a:clrScheme>
    <a:fontScheme name="SE Simpl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1162</Words>
  <Application>Microsoft Macintosh PowerPoint</Application>
  <PresentationFormat>On-screen Show (16:9)</PresentationFormat>
  <Paragraphs>139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SE Simple</vt:lpstr>
      <vt:lpstr>PowerPoint Presentation</vt:lpstr>
      <vt:lpstr>For AI software, are you…</vt:lpstr>
      <vt:lpstr>For AI software, are you…</vt:lpstr>
      <vt:lpstr>If big AI labs build our AI…</vt:lpstr>
      <vt:lpstr>What the red terms mean</vt:lpstr>
      <vt:lpstr>LITE: 30 lines. DEHB: three AI methods.</vt:lpstr>
      <vt:lpstr>LITE and DEHB come from different families</vt:lpstr>
      <vt:lpstr>PowerPoint Presentation</vt:lpstr>
      <vt:lpstr>On SE data, 30 evaluations match 3,000</vt:lpstr>
      <vt:lpstr>Check the data before you buy the compute</vt:lpstr>
      <vt:lpstr>PowerPoint Presentation</vt:lpstr>
      <vt:lpstr>Data-centre power will double by 2030</vt:lpstr>
      <vt:lpstr>PowerPoint Presentation</vt:lpstr>
      <vt:lpstr>SE data is different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Timothy James Menzies</cp:lastModifiedBy>
  <cp:revision>1</cp:revision>
  <dcterms:created xsi:type="dcterms:W3CDTF">2026-10-09T22:02:51Z</dcterms:created>
  <dcterms:modified xsi:type="dcterms:W3CDTF">2026-10-10T16:14:15Z</dcterms:modified>
</cp:coreProperties>
</file>