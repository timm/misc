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59" r:id="rId6"/>
    <p:sldId id="260" r:id="rId7"/>
    <p:sldId id="276" r:id="rId8"/>
    <p:sldId id="262" r:id="rId9"/>
    <p:sldId id="261" r:id="rId10"/>
    <p:sldId id="263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00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TWh</c:v>
                </c:pt>
              </c:strCache>
            </c:strRef>
          </c:tx>
          <c:spPr>
            <a:solidFill>
              <a:srgbClr val="8C9BA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537-FA4F-8B65-8EAE5127140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537-FA4F-8B65-8EAE51271407}"/>
              </c:ext>
            </c:extLst>
          </c:dPt>
          <c:dPt>
            <c:idx val="2"/>
            <c:invertIfNegative val="0"/>
            <c:bubble3D val="0"/>
            <c:spPr>
              <a:solidFill>
                <a:srgbClr val="3D6B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537-FA4F-8B65-8EAE51271407}"/>
              </c:ext>
            </c:extLst>
          </c:dPt>
          <c:dPt>
            <c:idx val="3"/>
            <c:invertIfNegative val="0"/>
            <c:bubble3D val="0"/>
            <c:spPr>
              <a:solidFill>
                <a:srgbClr val="3D6B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537-FA4F-8B65-8EAE5127140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3537-FA4F-8B65-8EAE51271407}"/>
              </c:ext>
            </c:extLst>
          </c:dPt>
          <c:dPt>
            <c:idx val="5"/>
            <c:invertIfNegative val="0"/>
            <c:bubble3D val="0"/>
            <c:spPr>
              <a:solidFill>
                <a:srgbClr val="3D6B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537-FA4F-8B65-8EAE5127140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US 2014</c:v>
                </c:pt>
                <c:pt idx="1">
                  <c:v>US 2023</c:v>
                </c:pt>
                <c:pt idx="2">
                  <c:v>US 2028 low</c:v>
                </c:pt>
                <c:pt idx="3">
                  <c:v>US 2028 high</c:v>
                </c:pt>
                <c:pt idx="4">
                  <c:v>World 2024</c:v>
                </c:pt>
                <c:pt idx="5">
                  <c:v>World 2030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</c:v>
                </c:pt>
                <c:pt idx="1">
                  <c:v>176</c:v>
                </c:pt>
                <c:pt idx="2">
                  <c:v>325</c:v>
                </c:pt>
                <c:pt idx="3">
                  <c:v>580</c:v>
                </c:pt>
                <c:pt idx="4">
                  <c:v>415</c:v>
                </c:pt>
                <c:pt idx="5">
                  <c:v>945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537-FA4F-8B65-8EAE512714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063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Thesis: if SE people build our own AI, then AI becomes better, faster and cheaper.
If Meta, OpenAI, Google or Anthropic build our AI:
- Unstable. Models change or retire on their schedule.
- Opaque. Closed weights; we cannot audit or explain.
- Their goals first. SE needs come second.
- We stay consumers, not creators.
- Wrong data. Tuned for web text. SE data is small, local, simple.
- Costly. We pay for compute we do not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4D6CB-1738-C284-4AAA-0B18F033A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7A015-6BFB-644B-9072-E6A82EFDD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B78BE-DD2F-A06F-57B2-4E6F9C834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9053F-9E17-2F55-4B1E-1641DCD5FA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89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33338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should build its own AI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D6B8C"/>
                </a:solidFill>
              </a:rPr>
              <a:t>Better, faster, cheaper: because SE data is simpler than it looks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3"/>
                </a:solidFill>
              </a:rPr>
              <a:t>Tim Menzies</a:t>
            </a:r>
            <a:r>
              <a:rPr lang="en-US" sz="1600" dirty="0">
                <a:solidFill>
                  <a:srgbClr val="1F2933"/>
                </a:solidFill>
              </a:rPr>
              <a:t> · Professor, NC State University · timm@ieee.org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3"/>
                </a:solidFill>
              </a:rPr>
              <a:t>Andre Lustosa</a:t>
            </a:r>
            <a:r>
              <a:rPr lang="en-US" sz="1600" dirty="0">
                <a:solidFill>
                  <a:srgbClr val="1F2933"/>
                </a:solidFill>
              </a:rPr>
              <a:t> · Engineer &amp; Team Lead, Red Hat · alustosa@redhat.com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</a:rPr>
              <a:t>Banner: ASE 2026; photo by Marek Jankola, CC BY.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AI software, are you…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1005840"/>
            <a:ext cx="3648456" cy="3730752"/>
          </a:xfrm>
          <a:prstGeom prst="ellipse">
            <a:avLst/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13232" y="2377440"/>
            <a:ext cx="3648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645152" y="1005840"/>
            <a:ext cx="3648456" cy="3730752"/>
          </a:xfrm>
          <a:prstGeom prst="ellipse">
            <a:avLst/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645152" y="2377440"/>
            <a:ext cx="3648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D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Creator!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4645152" y="3063240"/>
            <a:ext cx="3648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C6B73"/>
                </a:solidFill>
              </a:rPr>
              <a:t>(me)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AI software, are you…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1005840"/>
            <a:ext cx="3648456" cy="3730752"/>
          </a:xfrm>
          <a:prstGeom prst="ellipse">
            <a:avLst/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13232" y="2377440"/>
            <a:ext cx="3648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645152" y="1005840"/>
            <a:ext cx="3648456" cy="3730752"/>
          </a:xfrm>
          <a:prstGeom prst="ellipse">
            <a:avLst/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645152" y="2377440"/>
            <a:ext cx="3648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D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Creator!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4645152" y="3063240"/>
            <a:ext cx="3648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C6B73"/>
                </a:solidFill>
              </a:rPr>
              <a:t>(me)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52044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3D6B8C"/>
                </a:solidFill>
              </a:rPr>
              <a:t>Why?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3D6B8C"/>
                </a:solidFill>
              </a:rPr>
              <a:t>How?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3D6B8C"/>
                </a:solidFill>
              </a:rPr>
              <a:t>So what?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900" name="Google Shape;64;p14"/>
          <p:cNvSpPr/>
          <p:nvPr/>
        </p:nvSpPr>
        <p:spPr>
          <a:xfrm>
            <a:off x="1050400" y="1116363"/>
            <a:ext cx="2867000" cy="3570150"/>
          </a:xfrm>
          <a:custGeom>
            <a:avLst/>
            <a:gdLst/>
            <a:ahLst/>
            <a:cxnLst/>
            <a:rect l="l" t="t" r="r" b="b"/>
            <a:pathLst>
              <a:path w="114680" h="142806" extrusionOk="0">
                <a:moveTo>
                  <a:pt x="0" y="0"/>
                </a:moveTo>
                <a:cubicBezTo>
                  <a:pt x="5245" y="2098"/>
                  <a:pt x="967" y="11264"/>
                  <a:pt x="1826" y="16847"/>
                </a:cubicBezTo>
                <a:cubicBezTo>
                  <a:pt x="2754" y="22880"/>
                  <a:pt x="7780" y="27899"/>
                  <a:pt x="12584" y="31664"/>
                </a:cubicBezTo>
                <a:cubicBezTo>
                  <a:pt x="24393" y="40919"/>
                  <a:pt x="40959" y="44012"/>
                  <a:pt x="50946" y="55209"/>
                </a:cubicBezTo>
                <a:cubicBezTo>
                  <a:pt x="54559" y="59260"/>
                  <a:pt x="53549" y="66248"/>
                  <a:pt x="57239" y="70229"/>
                </a:cubicBezTo>
                <a:cubicBezTo>
                  <a:pt x="64459" y="78019"/>
                  <a:pt x="81035" y="82214"/>
                  <a:pt x="79769" y="92759"/>
                </a:cubicBezTo>
                <a:cubicBezTo>
                  <a:pt x="79252" y="97064"/>
                  <a:pt x="82483" y="101098"/>
                  <a:pt x="84843" y="104735"/>
                </a:cubicBezTo>
                <a:cubicBezTo>
                  <a:pt x="89695" y="112214"/>
                  <a:pt x="94867" y="119504"/>
                  <a:pt x="99254" y="127265"/>
                </a:cubicBezTo>
                <a:cubicBezTo>
                  <a:pt x="102649" y="133272"/>
                  <a:pt x="113007" y="147761"/>
                  <a:pt x="114680" y="141067"/>
                </a:cubicBezTo>
              </a:path>
            </a:pathLst>
          </a:custGeom>
          <a:noFill/>
          <a:ln w="152400" cap="flat" cmpd="sng">
            <a:solidFill>
              <a:srgbClr val="A44A3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01" name="Google Shape;65;p14"/>
          <p:cNvSpPr/>
          <p:nvPr/>
        </p:nvSpPr>
        <p:spPr>
          <a:xfrm>
            <a:off x="1192475" y="1121438"/>
            <a:ext cx="3171475" cy="3704275"/>
          </a:xfrm>
          <a:custGeom>
            <a:avLst/>
            <a:gdLst/>
            <a:ahLst/>
            <a:cxnLst/>
            <a:rect l="l" t="t" r="r" b="b"/>
            <a:pathLst>
              <a:path w="126859" h="148171" extrusionOk="0">
                <a:moveTo>
                  <a:pt x="126859" y="0"/>
                </a:moveTo>
                <a:cubicBezTo>
                  <a:pt x="111202" y="1566"/>
                  <a:pt x="94961" y="10771"/>
                  <a:pt x="86061" y="23748"/>
                </a:cubicBezTo>
                <a:cubicBezTo>
                  <a:pt x="82896" y="28363"/>
                  <a:pt x="84862" y="35303"/>
                  <a:pt x="81799" y="39986"/>
                </a:cubicBezTo>
                <a:cubicBezTo>
                  <a:pt x="79099" y="44115"/>
                  <a:pt x="73208" y="46202"/>
                  <a:pt x="71853" y="50946"/>
                </a:cubicBezTo>
                <a:cubicBezTo>
                  <a:pt x="70245" y="56573"/>
                  <a:pt x="72291" y="63653"/>
                  <a:pt x="68605" y="68199"/>
                </a:cubicBezTo>
                <a:cubicBezTo>
                  <a:pt x="63398" y="74621"/>
                  <a:pt x="52512" y="74117"/>
                  <a:pt x="46887" y="80175"/>
                </a:cubicBezTo>
                <a:cubicBezTo>
                  <a:pt x="44293" y="82969"/>
                  <a:pt x="44306" y="87627"/>
                  <a:pt x="41610" y="90323"/>
                </a:cubicBezTo>
                <a:cubicBezTo>
                  <a:pt x="38200" y="93733"/>
                  <a:pt x="33339" y="95355"/>
                  <a:pt x="29634" y="98442"/>
                </a:cubicBezTo>
                <a:cubicBezTo>
                  <a:pt x="20935" y="105691"/>
                  <a:pt x="16507" y="117392"/>
                  <a:pt x="13396" y="128280"/>
                </a:cubicBezTo>
                <a:cubicBezTo>
                  <a:pt x="11199" y="135966"/>
                  <a:pt x="2529" y="140588"/>
                  <a:pt x="0" y="148171"/>
                </a:cubicBezTo>
              </a:path>
            </a:pathLst>
          </a:custGeom>
          <a:noFill/>
          <a:ln w="152400" cap="flat" cmpd="sng">
            <a:solidFill>
              <a:srgbClr val="A44A3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2C159E-5DF6-5E6E-5DB9-918F059B5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57747"/>
            <a:ext cx="6858000" cy="3429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0E0CD6-9D85-F3BC-7C37-BD9BACC536BF}"/>
              </a:ext>
            </a:extLst>
          </p:cNvPr>
          <p:cNvSpPr txBox="1"/>
          <p:nvPr/>
        </p:nvSpPr>
        <p:spPr>
          <a:xfrm>
            <a:off x="2627906" y="3759831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RL-tuned transformer classifier that emits calibrated </a:t>
            </a:r>
            <a:r>
              <a:rPr lang="en-US" dirty="0" err="1"/>
              <a:t>softmaxes</a:t>
            </a:r>
            <a:r>
              <a:rPr lang="en-US" dirty="0"/>
              <a:t> in one forward pass. </a:t>
            </a:r>
          </a:p>
        </p:txBody>
      </p:sp>
    </p:spTree>
    <p:extLst>
      <p:ext uri="{BB962C8B-B14F-4D97-AF65-F5344CB8AC3E}">
        <p14:creationId xmlns:p14="http://schemas.microsoft.com/office/powerpoint/2010/main" val="729452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/>
              <a:t>When</a:t>
            </a: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big AI labs build our AI…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…we lose control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27632"/>
            <a:ext cx="3566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3"/>
                </a:solidFill>
              </a:rPr>
              <a:t>Unstable. </a:t>
            </a:r>
            <a:r>
              <a:rPr lang="en-US" sz="1400" dirty="0">
                <a:solidFill>
                  <a:srgbClr val="1F2933"/>
                </a:solidFill>
              </a:rPr>
              <a:t>Models change or retire on their schedule.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3"/>
                </a:solidFill>
              </a:rPr>
              <a:t>Opaque. </a:t>
            </a:r>
            <a:r>
              <a:rPr lang="en-US" sz="1400" dirty="0">
                <a:solidFill>
                  <a:srgbClr val="1F2933"/>
                </a:solidFill>
              </a:rPr>
              <a:t>Closed weights; no audit, no explanation.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3"/>
                </a:solidFill>
              </a:rPr>
              <a:t>Their goals first. </a:t>
            </a:r>
            <a:r>
              <a:rPr lang="en-US" sz="1400" dirty="0">
                <a:solidFill>
                  <a:srgbClr val="1F2933"/>
                </a:solidFill>
              </a:rPr>
              <a:t>SE needs come second.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3"/>
                </a:solidFill>
              </a:rPr>
              <a:t>We stay consumers. </a:t>
            </a:r>
            <a:r>
              <a:rPr lang="en-US" sz="1400" dirty="0">
                <a:solidFill>
                  <a:srgbClr val="1F2933"/>
                </a:solidFill>
              </a:rPr>
              <a:t>Only 13 of 229 SE papers on LLMs compared them to anything else </a:t>
            </a:r>
            <a:r>
              <a:rPr lang="en-US" sz="1400" dirty="0">
                <a:solidFill>
                  <a:srgbClr val="5C6B73"/>
                </a:solidFill>
              </a:rPr>
              <a:t>[Hou, TOSEM'24]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910328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…and we do not need them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1627632"/>
            <a:ext cx="3566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3"/>
                </a:solidFill>
              </a:rPr>
              <a:t>Wrong data. </a:t>
            </a:r>
            <a:r>
              <a:rPr lang="en-US" sz="1400" dirty="0">
                <a:solidFill>
                  <a:srgbClr val="1F2933"/>
                </a:solidFill>
              </a:rPr>
              <a:t>SE data is small and simple.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• Low </a:t>
            </a:r>
            <a:r>
              <a:rPr lang="en-US" sz="1400" b="1" dirty="0">
                <a:solidFill>
                  <a:srgbClr val="A44A3F"/>
                </a:solidFill>
              </a:rPr>
              <a:t>intrinsic dimensionality</a:t>
            </a:r>
            <a:r>
              <a:rPr lang="en-US" sz="1400" dirty="0">
                <a:solidFill>
                  <a:srgbClr val="1F2933"/>
                </a:solidFill>
              </a:rPr>
              <a:t>: </a:t>
            </a:r>
            <a:r>
              <a:rPr lang="en-US" sz="1400" b="1" dirty="0">
                <a:solidFill>
                  <a:srgbClr val="A44A3F"/>
                </a:solidFill>
              </a:rPr>
              <a:t>DODGE</a:t>
            </a:r>
            <a:r>
              <a:rPr lang="en-US" sz="1400" dirty="0">
                <a:solidFill>
                  <a:srgbClr val="1F2933"/>
                </a:solidFill>
              </a:rPr>
              <a:t> wins on most SE data, 6/31 non-SE </a:t>
            </a:r>
            <a:r>
              <a:rPr lang="en-US" sz="1400" dirty="0">
                <a:solidFill>
                  <a:srgbClr val="5C6B73"/>
                </a:solidFill>
              </a:rPr>
              <a:t>[Agrawal, TSE'22]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• </a:t>
            </a:r>
            <a:r>
              <a:rPr lang="en-US" sz="1400" b="1" dirty="0">
                <a:solidFill>
                  <a:srgbClr val="A44A3F"/>
                </a:solidFill>
              </a:rPr>
              <a:t>DRR</a:t>
            </a:r>
            <a:r>
              <a:rPr lang="en-US" sz="1400" dirty="0">
                <a:solidFill>
                  <a:srgbClr val="1F2933"/>
                </a:solidFill>
              </a:rPr>
              <a:t> &gt; 0.35 in 38/50 SE data sets </a:t>
            </a:r>
            <a:r>
              <a:rPr lang="en-US" sz="1400" dirty="0">
                <a:solidFill>
                  <a:srgbClr val="5C6B73"/>
                </a:solidFill>
              </a:rPr>
              <a:t>[Lustosa, TSE'26]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3"/>
                </a:solidFill>
              </a:rPr>
              <a:t>Costly. </a:t>
            </a:r>
            <a:r>
              <a:rPr lang="en-US" sz="1400" dirty="0">
                <a:solidFill>
                  <a:srgbClr val="1F2933"/>
                </a:solidFill>
              </a:rPr>
              <a:t>Compute we do not need.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• </a:t>
            </a:r>
            <a:r>
              <a:rPr lang="en-US" sz="1400" b="1" dirty="0">
                <a:solidFill>
                  <a:srgbClr val="A44A3F"/>
                </a:solidFill>
              </a:rPr>
              <a:t>DODGE</a:t>
            </a:r>
            <a:r>
              <a:rPr lang="en-US" sz="1400" dirty="0">
                <a:solidFill>
                  <a:srgbClr val="1F2933"/>
                </a:solidFill>
              </a:rPr>
              <a:t>: 30 evaluations, not thousands </a:t>
            </a:r>
            <a:r>
              <a:rPr lang="en-US" sz="1400" dirty="0">
                <a:solidFill>
                  <a:srgbClr val="5C6B73"/>
                </a:solidFill>
              </a:rPr>
              <a:t>[Agrawal, TSE'22]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• </a:t>
            </a:r>
            <a:r>
              <a:rPr lang="en-US" sz="1400" b="1" dirty="0">
                <a:solidFill>
                  <a:srgbClr val="A44A3F"/>
                </a:solidFill>
              </a:rPr>
              <a:t>LITE</a:t>
            </a:r>
            <a:r>
              <a:rPr lang="en-US" sz="1400" dirty="0">
                <a:solidFill>
                  <a:srgbClr val="1F2933"/>
                </a:solidFill>
              </a:rPr>
              <a:t>: seconds, not 20+ minutes </a:t>
            </a:r>
            <a:r>
              <a:rPr lang="en-US" sz="1400" dirty="0">
                <a:solidFill>
                  <a:srgbClr val="5C6B73"/>
                </a:solidFill>
              </a:rPr>
              <a:t>[Lustosa, TSE'26]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</a:rPr>
              <a:t>Hou et al., ACM TOSEM 33(8), 2024.  Agrawal et al., IEEE TSE 48(8), 2022.  Lustosa &amp; Menzies, IEEE TSE,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red terms mean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A4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Intrinsic dimensionality (I)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10512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How many dimensions the data really uses. Rows along a road are 1-D, even in a 20-column table.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3D6B8C"/>
                </a:solidFill>
              </a:rPr>
              <a:t>Median: SE 3.1, non-SE 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</a:rPr>
              <a:t>[Agrawal, TSE'22]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4408" y="100584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447288" y="11430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A4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DODGE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1810512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Skips settings that score within ε of ones already seen. Stops after 30 evaluations.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320040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3D6B8C"/>
                </a:solidFill>
              </a:rPr>
              <a:t>Good on low-I data only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</a:rPr>
              <a:t>[Agrawal, TSE'22]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772011E-F22D-B07A-D4BF-73FF1B9D4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640" y="2732709"/>
            <a:ext cx="2853184" cy="17249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F75ED2-3A19-C64C-DEBD-5DC56E4A4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717381"/>
            <a:ext cx="2874373" cy="2056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73271-259E-81F2-4DA0-C27E79ED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3CF395-08A7-38F2-DADC-9C17E20B538F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red terms mean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89F55F2-54F0-FD31-7739-EE6F8A8B4CA2}"/>
              </a:ext>
            </a:extLst>
          </p:cNvPr>
          <p:cNvSpPr/>
          <p:nvPr/>
        </p:nvSpPr>
        <p:spPr>
          <a:xfrm>
            <a:off x="457200" y="100584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6412FF-3B34-6EF2-296D-AE6F49E059B8}"/>
              </a:ext>
            </a:extLst>
          </p:cNvPr>
          <p:cNvSpPr txBox="1"/>
          <p:nvPr/>
        </p:nvSpPr>
        <p:spPr>
          <a:xfrm>
            <a:off x="640080" y="11430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A4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Intrinsic dimensionality (I)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E4A850-36C7-AF8B-2FDA-827A3DC9C4B4}"/>
              </a:ext>
            </a:extLst>
          </p:cNvPr>
          <p:cNvSpPr txBox="1"/>
          <p:nvPr/>
        </p:nvSpPr>
        <p:spPr>
          <a:xfrm>
            <a:off x="640080" y="1810512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How many dimensions the data really uses. Rows along a road are 1-D, even in a 20-column table.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554E0D-94AF-4438-008B-12383B8B3841}"/>
              </a:ext>
            </a:extLst>
          </p:cNvPr>
          <p:cNvSpPr txBox="1"/>
          <p:nvPr/>
        </p:nvSpPr>
        <p:spPr>
          <a:xfrm>
            <a:off x="640080" y="320040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3D6B8C"/>
                </a:solidFill>
              </a:rPr>
              <a:t>Median: SE 3.1, non-SE 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</a:rPr>
              <a:t>[Agrawal, TSE'22]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60E311-07A5-B252-BDCC-1DC59BFD3691}"/>
              </a:ext>
            </a:extLst>
          </p:cNvPr>
          <p:cNvSpPr/>
          <p:nvPr/>
        </p:nvSpPr>
        <p:spPr>
          <a:xfrm>
            <a:off x="3264408" y="100584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961BD8D-C009-CE63-5BFB-C4683A7BB963}"/>
              </a:ext>
            </a:extLst>
          </p:cNvPr>
          <p:cNvSpPr txBox="1"/>
          <p:nvPr/>
        </p:nvSpPr>
        <p:spPr>
          <a:xfrm>
            <a:off x="3447288" y="11430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A4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DODGE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1D4A621-C27C-AF28-A0C4-F93D8534018A}"/>
              </a:ext>
            </a:extLst>
          </p:cNvPr>
          <p:cNvSpPr txBox="1"/>
          <p:nvPr/>
        </p:nvSpPr>
        <p:spPr>
          <a:xfrm>
            <a:off x="3447288" y="1810512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Skips settings that score within ε of ones already seen. Stops after 30 evaluations.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21EA828-F91B-69E2-4A84-A485D27F94D0}"/>
              </a:ext>
            </a:extLst>
          </p:cNvPr>
          <p:cNvSpPr txBox="1"/>
          <p:nvPr/>
        </p:nvSpPr>
        <p:spPr>
          <a:xfrm>
            <a:off x="3447288" y="320040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3D6B8C"/>
                </a:solidFill>
              </a:rPr>
              <a:t>Good on low-I data only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</a:rPr>
              <a:t>[Agrawal, TSE'22]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6AD1483-EC56-43B5-BC0F-CDB90D37E6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A070471C-64E7-2B0E-5845-A7B1AD9885ED}"/>
              </a:ext>
            </a:extLst>
          </p:cNvPr>
          <p:cNvSpPr/>
          <p:nvPr/>
        </p:nvSpPr>
        <p:spPr>
          <a:xfrm>
            <a:off x="6071616" y="1005840"/>
            <a:ext cx="2615184" cy="3017520"/>
          </a:xfrm>
          <a:prstGeom prst="roundRect">
            <a:avLst>
              <a:gd name="adj" fmla="val 2797"/>
            </a:avLst>
          </a:prstGeom>
          <a:solidFill>
            <a:srgbClr val="E6ECF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6954210F-5D25-028D-1B01-F3D19847B350}"/>
              </a:ext>
            </a:extLst>
          </p:cNvPr>
          <p:cNvSpPr txBox="1"/>
          <p:nvPr/>
        </p:nvSpPr>
        <p:spPr>
          <a:xfrm>
            <a:off x="6254496" y="11430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A4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DRR = 1 − I/R</a:t>
            </a:r>
            <a:endParaRPr lang="en-US" sz="18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6DFF86D4-185B-A91D-0340-C773A605FC98}"/>
              </a:ext>
            </a:extLst>
          </p:cNvPr>
          <p:cNvSpPr txBox="1"/>
          <p:nvPr/>
        </p:nvSpPr>
        <p:spPr>
          <a:xfrm>
            <a:off x="6254496" y="1810512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Share of the R raw columns that the data does not need.</a:t>
            </a:r>
            <a:endParaRPr lang="en-US" sz="15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7094C556-FBC8-DA4A-98D2-3C46043C94F6}"/>
              </a:ext>
            </a:extLst>
          </p:cNvPr>
          <p:cNvSpPr txBox="1"/>
          <p:nvPr/>
        </p:nvSpPr>
        <p:spPr>
          <a:xfrm>
            <a:off x="6254496" y="320040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3D6B8C"/>
                </a:solidFill>
              </a:rPr>
              <a:t>DRR &gt; 0.35: 30 evaluations suffice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</a:rPr>
              <a:t>[Lustosa, TSE'26]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7401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 and DEHB come from different families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Optimizer families. </a:t>
            </a:r>
            <a:r>
              <a:rPr lang="en-US" sz="1400" b="1" dirty="0">
                <a:solidFill>
                  <a:srgbClr val="A44A3F"/>
                </a:solidFill>
              </a:rPr>
              <a:t>Red</a:t>
            </a:r>
            <a:r>
              <a:rPr lang="en-US" sz="1400" dirty="0">
                <a:solidFill>
                  <a:srgbClr val="1F2933"/>
                </a:solidFill>
              </a:rPr>
              <a:t>: the three we compared.</a:t>
            </a:r>
            <a:endParaRPr lang="en-US" sz="1400" dirty="0"/>
          </a:p>
        </p:txBody>
      </p:sp>
      <p:pic>
        <p:nvPicPr>
          <p:cNvPr id="4" name="Image 0" descr="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5394960" cy="32815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46520" y="914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</a:rPr>
              <a:t>Runtime</a:t>
            </a:r>
            <a:r>
              <a:rPr lang="en-US" sz="1400" dirty="0">
                <a:solidFill>
                  <a:srgbClr val="1F2933"/>
                </a:solidFill>
              </a:rPr>
              <a:t> (s, log scale)</a:t>
            </a:r>
            <a:endParaRPr lang="en-US" sz="1400" dirty="0"/>
          </a:p>
        </p:txBody>
      </p:sp>
      <p:pic>
        <p:nvPicPr>
          <p:cNvPr id="6" name="Image 1" descr="run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1832631" cy="3337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</a:rPr>
              <a:t>Lustosa &amp; Menzies, IEEE TSE, 2026, Figs. 5 and 6.C. DEHB ≈ 1,000+ s; LITE and random &lt; 50 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LITE: 30 lines. DEHB: three AI methods.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11155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</a:t>
            </a:r>
            <a:r>
              <a:rPr lang="en-US" sz="1400" dirty="0">
                <a:solidFill>
                  <a:srgbClr val="5C6B73"/>
                </a:solidFill>
              </a:rPr>
              <a:t>  simple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F2933"/>
                </a:solidFill>
              </a:rPr>
              <a:t>Label a few rows; split into "best" and "rest"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F2933"/>
                </a:solidFill>
              </a:rPr>
              <a:t>Train Bayes: best vs. rest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F2933"/>
                </a:solidFill>
              </a:rPr>
              <a:t>Label the most "best"-looking row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F2933"/>
                </a:solidFill>
              </a:rPr>
              <a:t>Stop at 30 labels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383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3D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lines of Python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D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evaluations · seconds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910328" y="11155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4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DEHB</a:t>
            </a:r>
            <a:r>
              <a:rPr lang="en-US" sz="1400" dirty="0">
                <a:solidFill>
                  <a:srgbClr val="5C6B73"/>
                </a:solidFill>
              </a:rPr>
              <a:t>  state of the art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910328" y="16459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F2933"/>
                </a:solidFill>
              </a:rPr>
              <a:t>Hyperband: try many budgets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F2933"/>
                </a:solidFill>
              </a:rPr>
              <a:t>Successive halving: drop weak settings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F2933"/>
                </a:solidFill>
              </a:rPr>
              <a:t>Differential evolution at each budget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10328" y="3383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A4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Beats BOHB and Hyperopt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A4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 evaluations · 20+ minutes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251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</a:rPr>
              <a:t>On SE data with DRR &gt; 0.35, both find the same answer.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</a:rPr>
              <a:t>LITE: Menzies &amp; Lustosa, arXiv:2405.12920; github.com/timm/ezr.  DEHB: Awad et al., IJCAI'21.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DRR predicts when simple is enough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7830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3"/>
                </a:solidFill>
              </a:rPr>
              <a:t>Each dot is one data set.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44A3F"/>
                </a:solidFill>
              </a:rPr>
              <a:t>Red</a:t>
            </a:r>
            <a:r>
              <a:rPr lang="en-US" sz="1500" dirty="0">
                <a:solidFill>
                  <a:srgbClr val="1F2933"/>
                </a:solidFill>
              </a:rPr>
              <a:t>: DEHB beat LITE.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4E8F4E"/>
                </a:solidFill>
              </a:rPr>
              <a:t>Green</a:t>
            </a:r>
            <a:r>
              <a:rPr lang="en-US" sz="1500" dirty="0">
                <a:solidFill>
                  <a:srgbClr val="1F2933"/>
                </a:solidFill>
              </a:rPr>
              <a:t>: a tie.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3"/>
                </a:solidFill>
              </a:rPr>
              <a:t>Top: </a:t>
            </a:r>
            <a:r>
              <a:rPr lang="en-US" sz="1500" dirty="0">
                <a:solidFill>
                  <a:srgbClr val="1F2933"/>
                </a:solidFill>
              </a:rPr>
              <a:t>intrinsic dimensionality alone does not split them.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3"/>
                </a:solidFill>
              </a:rPr>
              <a:t>Bottom: </a:t>
            </a:r>
            <a:r>
              <a:rPr lang="en-US" sz="1500" dirty="0">
                <a:solidFill>
                  <a:srgbClr val="1F2933"/>
                </a:solidFill>
              </a:rPr>
              <a:t>DRR does. Above 0.35, every data set is a tie.</a:t>
            </a:r>
            <a:endParaRPr lang="en-US" sz="1500" dirty="0"/>
          </a:p>
        </p:txBody>
      </p:sp>
      <p:pic>
        <p:nvPicPr>
          <p:cNvPr id="4" name="Image 0" descr="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74320"/>
            <a:ext cx="5303520" cy="1943880"/>
          </a:xfrm>
          <a:prstGeom prst="rect">
            <a:avLst/>
          </a:prstGeom>
        </p:spPr>
      </p:pic>
      <p:pic>
        <p:nvPicPr>
          <p:cNvPr id="5" name="Image 1" descr="fi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331720"/>
            <a:ext cx="5303520" cy="19346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</a:rPr>
              <a:t>Lustosa &amp; Menzies, IEEE TSE, 2026, Figs. 3 and 4.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data before you buy the compute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3"/>
                </a:solidFill>
              </a:rPr>
              <a:t>Big-lab AI is unstable, opaque and tuned for other data.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3"/>
                </a:solidFill>
              </a:rPr>
              <a:t>SE data is simpler: DRR &gt; 0.35 in 38 of 50 SE data sets.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64408" y="100584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47288" y="11430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How?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447288" y="173736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3"/>
                </a:solidFill>
              </a:rPr>
              <a:t>Measure DRR first.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3"/>
                </a:solidFill>
              </a:rPr>
              <a:t>If DRR &gt; 0.35, use LITE: 30 labels, ~30 lines of code.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71616" y="1005840"/>
            <a:ext cx="2615184" cy="2743200"/>
          </a:xfrm>
          <a:prstGeom prst="roundRect">
            <a:avLst>
              <a:gd name="adj" fmla="val 2797"/>
            </a:avLst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254496" y="11430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what?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254496" y="173736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933"/>
                </a:solidFill>
              </a:rPr>
              <a:t>Same results as DEHB, 100× faster.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933"/>
                </a:solidFill>
              </a:rPr>
              <a:t>Data-centre power will double by 2030. Frugal AI matters.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data needs SE AI. </a:t>
            </a:r>
            <a:r>
              <a:rPr lang="en-US" sz="2200" b="1" dirty="0">
                <a:solidFill>
                  <a:srgbClr val="A4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creators, not consumers.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</a:rPr>
              <a:t>Agrawal et al., TSE'22.  Lustosa &amp; Menzies, TSE'26.  IEA, Energy and AI, 2025.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48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Data-centre power will double by 2030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51560"/>
          <a:ext cx="557784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891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</a:rPr>
              <a:t>TWh per year.  Grey: reported.  </a:t>
            </a:r>
            <a:r>
              <a:rPr lang="en-US" sz="1100" b="1" dirty="0">
                <a:solidFill>
                  <a:srgbClr val="3D6B8C"/>
                </a:solidFill>
              </a:rPr>
              <a:t>Blue: projected.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309360" y="1051560"/>
            <a:ext cx="2377440" cy="1600200"/>
          </a:xfrm>
          <a:prstGeom prst="roundRect">
            <a:avLst>
              <a:gd name="adj" fmla="val 4571"/>
            </a:avLst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492240" y="1188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×2.3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1828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World: 415 TWh (2024) to ~945 TWh (2030)¹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2834640"/>
            <a:ext cx="2377440" cy="1600200"/>
          </a:xfrm>
          <a:prstGeom prst="roundRect">
            <a:avLst>
              <a:gd name="adj" fmla="val 4571"/>
            </a:avLst>
          </a:prstGeom>
          <a:solidFill>
            <a:srgbClr val="E6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492240" y="2971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D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6.7–12%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3611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of US power by 2028, up from 4.4% in 2023²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</a:rPr>
              <a:t>¹ IEA, Energy and AI, 2025.  ² LBNL / US DOE, 2024 US Data Center Energy Usage Report.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626864" y="3456432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D6B8C"/>
                </a:solidFill>
              </a:rPr>
              <a:t>Numeric Xs? </a:t>
            </a:r>
            <a:r>
              <a:rPr lang="en-US" sz="1400" dirty="0">
                <a:solidFill>
                  <a:srgbClr val="1F2933"/>
                </a:solidFill>
              </a:rPr>
              <a:t>Discretize: </a:t>
            </a:r>
            <a:r>
              <a:rPr lang="en-US" sz="1400" b="1" dirty="0">
                <a:solidFill>
                  <a:srgbClr val="A44A3F"/>
                </a:solidFill>
              </a:rPr>
              <a:t>int(BINS/(1+exp(-1.7·z)))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D6B8C"/>
                </a:solidFill>
              </a:rPr>
              <a:t>Numeric Ys? </a:t>
            </a:r>
            <a:r>
              <a:rPr lang="en-US" sz="1400" dirty="0">
                <a:solidFill>
                  <a:srgbClr val="1F2933"/>
                </a:solidFill>
              </a:rPr>
              <a:t>Use kNN.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D6B8C"/>
                </a:solidFill>
              </a:rPr>
              <a:t>Few labels? </a:t>
            </a:r>
            <a:r>
              <a:rPr lang="en-US" sz="1400" dirty="0">
                <a:solidFill>
                  <a:srgbClr val="1F2933"/>
                </a:solidFill>
              </a:rPr>
              <a:t>50–100 random rows work well.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D6B8C"/>
                </a:solidFill>
              </a:rPr>
              <a:t>Rare classes? </a:t>
            </a:r>
            <a:r>
              <a:rPr lang="en-US" sz="1400" dirty="0">
                <a:solidFill>
                  <a:srgbClr val="1F2933"/>
                </a:solidFill>
              </a:rPr>
              <a:t>TWCNB </a:t>
            </a:r>
            <a:r>
              <a:rPr lang="en-US" sz="1400" dirty="0">
                <a:solidFill>
                  <a:srgbClr val="5C6B73"/>
                </a:solidFill>
              </a:rPr>
              <a:t>[Rennie, ICML'03]</a:t>
            </a:r>
            <a:endParaRPr lang="en-US" sz="14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data is different</a:t>
            </a:r>
            <a:endParaRPr lang="en-US" sz="2800" dirty="0"/>
          </a:p>
        </p:txBody>
      </p:sp>
      <p:pic>
        <p:nvPicPr>
          <p:cNvPr id="3" name="Image 0" descr="co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0"/>
            <a:ext cx="3191256" cy="5138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27064" y="1268273"/>
            <a:ext cx="2752344" cy="0"/>
          </a:xfrm>
          <a:prstGeom prst="line">
            <a:avLst/>
          </a:prstGeom>
          <a:noFill/>
          <a:ln w="38100">
            <a:solidFill>
              <a:srgbClr val="A44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309360" y="640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44A3F"/>
                </a:solidFill>
              </a:rPr>
              <a:t>y = b₀ + b₁x₁ + b₂x₂ + …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D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Naturalness</a:t>
            </a:r>
            <a:endParaRPr lang="en-US" sz="1800" dirty="0"/>
          </a:p>
          <a:p>
            <a:pPr marL="355600" lvl="1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People write code for people to read, so code repeats a few known forms [Hindle, CACM'16]</a:t>
            </a:r>
            <a:endParaRPr lang="en-US" sz="1800" dirty="0"/>
          </a:p>
          <a:p>
            <a:pPr marL="355600" lvl="1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Far less random than, e.g., EM spikes on the sun</a:t>
            </a:r>
            <a:endParaRPr lang="en-US" sz="18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3D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Locality</a:t>
            </a:r>
            <a:endParaRPr lang="en-US" sz="1800" dirty="0"/>
          </a:p>
          <a:p>
            <a:pPr marL="355600" lvl="1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Different people, skills, goals and platforms</a:t>
            </a:r>
            <a:endParaRPr lang="en-US" sz="1800" dirty="0"/>
          </a:p>
          <a:p>
            <a:pPr marL="355600" lvl="1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More data does not mean less variance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 Simple">
  <a:themeElements>
    <a:clrScheme name="SE Simple">
      <a:dk1>
        <a:srgbClr val="1F2933"/>
      </a:dk1>
      <a:lt1>
        <a:srgbClr val="FAFAFA"/>
      </a:lt1>
      <a:dk2>
        <a:srgbClr val="2F4858"/>
      </a:dk2>
      <a:lt2>
        <a:srgbClr val="E6ECF0"/>
      </a:lt2>
      <a:accent1>
        <a:srgbClr val="3D6B8C"/>
      </a:accent1>
      <a:accent2>
        <a:srgbClr val="6B8F71"/>
      </a:accent2>
      <a:accent3>
        <a:srgbClr val="A44A3F"/>
      </a:accent3>
      <a:accent4>
        <a:srgbClr val="8C9BA5"/>
      </a:accent4>
      <a:accent5>
        <a:srgbClr val="C9D6DF"/>
      </a:accent5>
      <a:accent6>
        <a:srgbClr val="5C6B73"/>
      </a:accent6>
      <a:hlink>
        <a:srgbClr val="3D6B8C"/>
      </a:hlink>
      <a:folHlink>
        <a:srgbClr val="6B8F71"/>
      </a:folHlink>
    </a:clrScheme>
    <a:fontScheme name="SE Simpl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1140</Words>
  <Application>Microsoft Macintosh PowerPoint</Application>
  <PresentationFormat>On-screen Show (16:9)</PresentationFormat>
  <Paragraphs>140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SE Simple</vt:lpstr>
      <vt:lpstr>PowerPoint Presentation</vt:lpstr>
      <vt:lpstr>For AI software, are you…</vt:lpstr>
      <vt:lpstr>For AI software, are you…</vt:lpstr>
      <vt:lpstr>PowerPoint Presentation</vt:lpstr>
      <vt:lpstr>When big AI labs build our AI…</vt:lpstr>
      <vt:lpstr>What the red terms mean</vt:lpstr>
      <vt:lpstr>What the red terms mean</vt:lpstr>
      <vt:lpstr>LITE and DEHB come from different families</vt:lpstr>
      <vt:lpstr>LITE: 30 lines. DEHB: three AI methods.</vt:lpstr>
      <vt:lpstr>PowerPoint Presentation</vt:lpstr>
      <vt:lpstr>Check the data before you buy the compute</vt:lpstr>
      <vt:lpstr>PowerPoint Presentation</vt:lpstr>
      <vt:lpstr>Data-centre power will double by 2030</vt:lpstr>
      <vt:lpstr>PowerPoint Presentation</vt:lpstr>
      <vt:lpstr>SE data is different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Timothy James Menzies</cp:lastModifiedBy>
  <cp:revision>2</cp:revision>
  <dcterms:created xsi:type="dcterms:W3CDTF">2026-10-09T22:02:51Z</dcterms:created>
  <dcterms:modified xsi:type="dcterms:W3CDTF">2026-10-12T22:37:03Z</dcterms:modified>
</cp:coreProperties>
</file>